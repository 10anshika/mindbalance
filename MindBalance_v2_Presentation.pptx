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E58"/>
          </a:solidFill>
          <a:ln w="12700">
            <a:solidFill>
              <a:srgbClr val="162E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 ·  Final Year  ·  IKS Integration Project  · 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MindBalance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Model Integrating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 &amp;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Variables for Stress Prediction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530352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944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· Pranayama · Mindfulness (IKS) + Psychological Variables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3346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Compared · Best: Logistic Regression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72768" y="37490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Students · 24 Features · Stratified 80/20 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73952" y="502920"/>
            <a:ext cx="2423160" cy="1207008"/>
          </a:xfrm>
          <a:prstGeom prst="rect">
            <a:avLst/>
          </a:prstGeom>
          <a:solidFill>
            <a:srgbClr val="1E3A5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5760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73952" y="1307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3952" y="1920240"/>
            <a:ext cx="2423160" cy="1207008"/>
          </a:xfrm>
          <a:prstGeom prst="rect">
            <a:avLst/>
          </a:prstGeom>
          <a:solidFill>
            <a:srgbClr val="1E3A5F"/>
          </a:solidFill>
          <a:ln w="1524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9933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73952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(macro)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73952" y="3337560"/>
            <a:ext cx="2423160" cy="1207008"/>
          </a:xfrm>
          <a:prstGeom prst="rect">
            <a:avLst/>
          </a:prstGeom>
          <a:solidFill>
            <a:srgbClr val="1E3A5F"/>
          </a:solidFill>
          <a:ln w="15240">
            <a:solidFill>
              <a:srgbClr val="C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4107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73952" y="4142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2850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Compared   ·   SMOTE Class Balancing   ·   SHAP Explainability   ·   Scored IKS Wellness Engine   ·   16 Output Charts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Research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06040" cy="3822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80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26060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college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stress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965960" cy="228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go undetected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they reach crisis.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68680"/>
            <a:ext cx="5669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68680"/>
            <a:ext cx="73152" cy="8046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686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96012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is reactive — tools only respond after a crisis, not before.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54680" y="1819656"/>
            <a:ext cx="5669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819656"/>
            <a:ext cx="73152" cy="8046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1965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75888" y="191109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instruments are clinical, expensive, and culturally decontextualised.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4680" y="2770632"/>
            <a:ext cx="5669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770632"/>
            <a:ext cx="73152" cy="80467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7063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75888" y="28620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approaches (Yoga, Pranayama) lack quantitative, data-driven validation.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54680" y="3721608"/>
            <a:ext cx="56692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721608"/>
            <a:ext cx="73152" cy="80467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7216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75888" y="381304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MindBalance: a predictive ML model where IKS variables are primary features.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 ·  BSc Data Science  ·  IKS Integration Project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Five-Stage ML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testable · outputs feed the next stage · SMOTE applied within pipeline to prevent data leakage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1572768" cy="3547872"/>
          </a:xfrm>
          <a:prstGeom prst="rect">
            <a:avLst/>
          </a:prstGeom>
          <a:solidFill>
            <a:srgbClr val="EBF4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887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22576"/>
            <a:ext cx="1207008" cy="20117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395728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Survey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" y="2889504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PSS-10 (validated)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" y="3383280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students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" y="3877056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73936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975104" y="1115568"/>
            <a:ext cx="1572768" cy="3547872"/>
          </a:xfrm>
          <a:prstGeom prst="rect">
            <a:avLst/>
          </a:prstGeom>
          <a:solidFill>
            <a:srgbClr val="EBF4FF"/>
          </a:solidFill>
          <a:ln w="15240">
            <a:solidFill>
              <a:srgbClr val="2B6C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7168" y="11887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75104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57984" y="2322576"/>
            <a:ext cx="1207008" cy="20117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75104" y="2395728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75104" y="2889504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75104" y="3383280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75104" y="3877056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(train only)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47872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749040" y="1115568"/>
            <a:ext cx="1572768" cy="3547872"/>
          </a:xfrm>
          <a:prstGeom prst="rect">
            <a:avLst/>
          </a:prstGeom>
          <a:solidFill>
            <a:srgbClr val="FFF5E6"/>
          </a:solidFill>
          <a:ln w="15240">
            <a:solidFill>
              <a:srgbClr val="B779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61104" y="11887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110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0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31920" y="2322576"/>
            <a:ext cx="1207008" cy="20117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395728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49040" y="2889504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3383280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StratKFold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49040" y="3877056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21808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522976" y="1115568"/>
            <a:ext cx="1572768" cy="3547872"/>
          </a:xfrm>
          <a:prstGeom prst="rect">
            <a:avLst/>
          </a:prstGeom>
          <a:solidFill>
            <a:srgbClr val="F0FFF4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1887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05856" y="2322576"/>
            <a:ext cx="1207008" cy="20117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2395728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22976" y="2889504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bar chart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22976" y="3383280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drivers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22976" y="3877056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waterfall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95744" y="2487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7296912" y="1115568"/>
            <a:ext cx="1572768" cy="3547872"/>
          </a:xfrm>
          <a:prstGeom prst="rect">
            <a:avLst/>
          </a:prstGeom>
          <a:solidFill>
            <a:srgbClr val="F0F4FF"/>
          </a:solidFill>
          <a:ln w="15240">
            <a:solidFill>
              <a:srgbClr val="2E5FA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08976" y="118872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0897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96912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79792" y="2322576"/>
            <a:ext cx="1207008" cy="20117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2395728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Wellness Score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296912" y="2889504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0–100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96912" y="3383280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Tier-matched recs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296912" y="3877056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Intensity-proportional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1168" y="4736592"/>
            <a:ext cx="8741664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048" y="4800600"/>
            <a:ext cx="164592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801368" y="4800600"/>
            <a:ext cx="164592" cy="16459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2082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18688" y="4800600"/>
            <a:ext cx="164592" cy="1645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3814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36008" y="4800600"/>
            <a:ext cx="164592" cy="16459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5546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053328" y="4800600"/>
            <a:ext cx="164592" cy="16459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70648" y="4800600"/>
            <a:ext cx="164592" cy="16459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90104" y="47731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/ Yoga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5 Classifiers × 4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32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41248"/>
            <a:ext cx="3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168" y="841248"/>
            <a:ext cx="11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168" y="84124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01168" y="841248"/>
            <a:ext cx="14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168" y="841248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01168" y="841248"/>
            <a:ext cx="11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1168" y="84124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01168" y="841248"/>
            <a:ext cx="13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1168" y="841248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01168" y="841248"/>
            <a:ext cx="1100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1168" y="84124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1188720"/>
            <a:ext cx="32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188720"/>
            <a:ext cx="32000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01168" y="1188720"/>
            <a:ext cx="11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168" y="1188720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01168" y="1188720"/>
            <a:ext cx="14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1168" y="1188720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01168" y="1188720"/>
            <a:ext cx="11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1168" y="1188720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01168" y="1188720"/>
            <a:ext cx="13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1168" y="1188720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01168" y="1188720"/>
            <a:ext cx="1100000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1168" y="1188720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1168" y="1536192"/>
            <a:ext cx="32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1536192"/>
            <a:ext cx="32000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01168" y="1536192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168" y="1536192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01168" y="1536192"/>
            <a:ext cx="14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1168" y="1536192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01168" y="1536192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01168" y="1536192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001168" y="1536192"/>
            <a:ext cx="13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1168" y="1536192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01168" y="1536192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1168" y="1536192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1168" y="1883664"/>
            <a:ext cx="32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1883664"/>
            <a:ext cx="32000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401168" y="1883664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168" y="1883664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64.1%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01168" y="1883664"/>
            <a:ext cx="14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1168" y="1883664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901168" y="1883664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01168" y="1883664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001168" y="1883664"/>
            <a:ext cx="13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01168" y="1883664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0.462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301168" y="1883664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1168" y="1883664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60.6%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01168" y="2231136"/>
            <a:ext cx="32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" y="2231136"/>
            <a:ext cx="32000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401168" y="2231136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01168" y="2231136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01168" y="2231136"/>
            <a:ext cx="14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01168" y="2231136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901168" y="2231136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01168" y="2231136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001168" y="2231136"/>
            <a:ext cx="13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01168" y="2231136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0.350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301168" y="2231136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01168" y="2231136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58.4%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01168" y="2578608"/>
            <a:ext cx="32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" y="2578608"/>
            <a:ext cx="32000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401168" y="2578608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01168" y="257860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46.4%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501168" y="2578608"/>
            <a:ext cx="14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01168" y="2578608"/>
            <a:ext cx="1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901168" y="2578608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01168" y="257860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0.648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7001168" y="2578608"/>
            <a:ext cx="13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01168" y="2578608"/>
            <a:ext cx="13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0.197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8301168" y="2578608"/>
            <a:ext cx="11000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01168" y="2578608"/>
            <a:ext cx="11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46.9%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201168" y="2999232"/>
            <a:ext cx="9200000" cy="329184"/>
          </a:xfrm>
          <a:prstGeom prst="rect">
            <a:avLst/>
          </a:prstGeom>
          <a:solidFill>
            <a:srgbClr val="EBF4FF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8328" y="2999232"/>
            <a:ext cx="892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 as best model — highest ROC-AUC (0.889) and Cohen's Kappa (0.653 = substantial agreement). GridSearchCV tuning did not improve further.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01168" y="3401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(Best Model)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201168" y="3639312"/>
            <a:ext cx="2400000" cy="292608"/>
          </a:xfrm>
          <a:prstGeom prst="rect">
            <a:avLst/>
          </a:prstGeom>
          <a:solidFill>
            <a:srgbClr val="4A55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1168" y="3639312"/>
            <a:ext cx="2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Tier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601168" y="3639312"/>
            <a:ext cx="1600000" cy="292608"/>
          </a:xfrm>
          <a:prstGeom prst="rect">
            <a:avLst/>
          </a:prstGeom>
          <a:solidFill>
            <a:srgbClr val="4A55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01168" y="3639312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201168" y="3639312"/>
            <a:ext cx="1600000" cy="292608"/>
          </a:xfrm>
          <a:prstGeom prst="rect">
            <a:avLst/>
          </a:prstGeom>
          <a:solidFill>
            <a:srgbClr val="4A55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01168" y="3639312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801168" y="3639312"/>
            <a:ext cx="1600000" cy="292608"/>
          </a:xfrm>
          <a:prstGeom prst="rect">
            <a:avLst/>
          </a:prstGeom>
          <a:solidFill>
            <a:srgbClr val="4A55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01168" y="3639312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401168" y="3639312"/>
            <a:ext cx="1400000" cy="292608"/>
          </a:xfrm>
          <a:prstGeom prst="rect">
            <a:avLst/>
          </a:prstGeom>
          <a:solidFill>
            <a:srgbClr val="4A55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01168" y="3639312"/>
            <a:ext cx="1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01168" y="3931920"/>
            <a:ext cx="2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1168" y="3931920"/>
            <a:ext cx="64008" cy="2926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3931920"/>
            <a:ext cx="230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Stress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601168" y="3931920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01168" y="3931920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201168" y="3931920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01168" y="3931920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801168" y="3931920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01168" y="3931920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401168" y="3931920"/>
            <a:ext cx="1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01168" y="3931920"/>
            <a:ext cx="1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201168" y="4224528"/>
            <a:ext cx="2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1168" y="4224528"/>
            <a:ext cx="64008" cy="29260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2608" y="4224528"/>
            <a:ext cx="230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Stress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2601168" y="4224528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01168" y="4224528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201168" y="4224528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201168" y="4224528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5801168" y="4224528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01168" y="4224528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7401168" y="4224528"/>
            <a:ext cx="1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01168" y="4224528"/>
            <a:ext cx="1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201168" y="4517136"/>
            <a:ext cx="2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1168" y="4517136"/>
            <a:ext cx="64008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92608" y="4517136"/>
            <a:ext cx="230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2601168" y="4517136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601168" y="4517136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4201168" y="4517136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01168" y="4517136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5801168" y="4517136"/>
            <a:ext cx="16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01168" y="4517136"/>
            <a:ext cx="1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7401168" y="4517136"/>
            <a:ext cx="1400000" cy="292608"/>
          </a:xfrm>
          <a:prstGeom prst="rect">
            <a:avLst/>
          </a:prstGeom>
          <a:solidFill>
            <a:srgbClr val="FAFB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401168" y="4517136"/>
            <a:ext cx="14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 ·  BSc Data Science  ·  IKS Integration Project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 — What Drives Stress Prediction?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— Mean |SHAP|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1521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2435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243584"/>
            <a:ext cx="2758875" cy="1828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1179" y="1152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7007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700784"/>
            <a:ext cx="2354798" cy="1828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7102" y="1609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0665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Self-Esteem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1579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2157984"/>
            <a:ext cx="2034322" cy="1828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626" y="20665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25237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6151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615184"/>
            <a:ext cx="1560576" cy="182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2880" y="25237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29809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Days / Week  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30723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072384"/>
            <a:ext cx="1365504" cy="1828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7808" y="2980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34381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Load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35295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3529584"/>
            <a:ext cx="1170432" cy="18288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3438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38953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/ Day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39867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986784"/>
            <a:ext cx="933559" cy="1828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5863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" y="43525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444398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443984"/>
            <a:ext cx="822089" cy="182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4393" y="43525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663440"/>
            <a:ext cx="493776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63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Yoga Days/Week ranks 5th of 24 — ahead of all Social and most Academic variables. IKS hypothesis confirmed.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40680" y="804672"/>
            <a:ext cx="27432" cy="42062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— High-Stress Student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1115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for an individual prediction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59552" y="804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— High-Stress Student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59552" y="10972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for an individual prediction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59552" y="1389888"/>
            <a:ext cx="333756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59552" y="1389888"/>
            <a:ext cx="64008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1426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Level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54112" y="1444752"/>
            <a:ext cx="685800" cy="2560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4112" y="1444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559552" y="1828800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59552" y="1828800"/>
            <a:ext cx="64008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Score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754112" y="1883664"/>
            <a:ext cx="685800" cy="2560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54112" y="1883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59552" y="2267712"/>
            <a:ext cx="333756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9552" y="2267712"/>
            <a:ext cx="64008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754112" y="2322576"/>
            <a:ext cx="685800" cy="25603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4112" y="23225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559552" y="2706624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2706624"/>
            <a:ext cx="64008" cy="36576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Load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754112" y="2761488"/>
            <a:ext cx="685800" cy="256032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4112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559552" y="3145536"/>
            <a:ext cx="333756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59552" y="3145536"/>
            <a:ext cx="64008" cy="3657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Days/Week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754112" y="3200400"/>
            <a:ext cx="685800" cy="2560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54112" y="3200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−0.18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559552" y="3584448"/>
            <a:ext cx="3337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59552" y="3584448"/>
            <a:ext cx="64008" cy="3657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754112" y="3639312"/>
            <a:ext cx="685800" cy="2560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54112" y="3639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−0.12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559552" y="4023360"/>
            <a:ext cx="3337560" cy="36576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59552" y="4023360"/>
            <a:ext cx="64008" cy="365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69280" y="4059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7754112" y="4078224"/>
            <a:ext cx="685800" cy="25603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54112" y="40782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559552" y="4462272"/>
            <a:ext cx="1600200" cy="256032"/>
          </a:xfrm>
          <a:prstGeom prst="rect">
            <a:avLst/>
          </a:prstGeom>
          <a:solidFill>
            <a:srgbClr val="C53030">
              <a:alpha val="2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9552" y="44622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increases stress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473952" y="4462272"/>
            <a:ext cx="1600200" cy="256032"/>
          </a:xfrm>
          <a:prstGeom prst="rect">
            <a:avLst/>
          </a:prstGeom>
          <a:solidFill>
            <a:srgbClr val="C8973A">
              <a:alpha val="20000"/>
            </a:srgbClr>
          </a:solidFill>
          <a:ln w="6350">
            <a:solidFill>
              <a:srgbClr val="C897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73952" y="44622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protects vs stress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 ·  BSc Data Science  ·  IKS Integration Project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IKS Integration — Scored Wellness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Wellness Score Formula (0–100)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64008" cy="6400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Frequency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days/week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261872"/>
            <a:ext cx="457200" cy="45720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371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920240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920240"/>
            <a:ext cx="64008" cy="640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75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Practice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2311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minutes/day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01168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121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70048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670048"/>
            <a:ext cx="64008" cy="6400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Duration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2980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mins/session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761488"/>
            <a:ext cx="457200" cy="45720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60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419856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419856"/>
            <a:ext cx="64008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Pranayama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(Yes/No)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511296"/>
            <a:ext cx="457200" cy="4572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86200" y="3621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4206240"/>
            <a:ext cx="42062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062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finding: Low-stress = 57.8  ·  Moderate = 52.7  ·  High-stress = 46.1  (11.7-pt gap, p&lt;0.05)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Tier-Matched IKS Prescription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73168" y="117043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73168" y="1170432"/>
            <a:ext cx="73152" cy="10789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1225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Stress  (IKS Score ≥ 60)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19472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Yoga: Surya Namaskar · Tadasana · Vrikshasana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Pranayama: Anulom Vilom · Kapalbhati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9472" y="19751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sessions/week — maintenance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73168" y="235915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73168" y="2359152"/>
            <a:ext cx="73152" cy="107899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2414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Stress  (IKS Score 35–59)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919472" y="26883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Yoga: Balasana · Paschimottanasana · Viparita Karani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19472" y="29260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Pranayama: Nadi Shodhana · Bhramari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19472" y="31638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sessions/week — structured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73168" y="354787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73168" y="3547872"/>
            <a:ext cx="73152" cy="10789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6027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 (IKS Score &lt; 35)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19472" y="3877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Yoga: Yoga Nidra (primary) · Shavasana · Supta Baddha Konasana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19472" y="4114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Pranayama: Bhramari 20min · 4-7-8 Breathing · Sheetali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19472" y="43525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intensive + counsellor referral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 ·  BSc Data Science  ·  IKS Integration Project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 &amp; 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9933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993392" cy="640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0525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held-out samples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841248"/>
            <a:ext cx="19933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41248"/>
            <a:ext cx="1993392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90525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50592" y="1508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50592" y="17556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OvR · 3 classes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841248"/>
            <a:ext cx="19933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841248"/>
            <a:ext cx="1993392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90525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26864" y="1508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26864" y="17556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agreement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841248"/>
            <a:ext cx="19933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841248"/>
            <a:ext cx="1993392" cy="640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90525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5th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03136" y="1508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Days rank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03136" y="17556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24 features (SHAP)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2487168"/>
            <a:ext cx="411480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633472"/>
            <a:ext cx="256032" cy="25603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" y="2578608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outperforms tree-based models on this dataset — linear separation is dominant.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054096"/>
            <a:ext cx="256032" cy="25603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" y="299923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improved minority-class recall by ~12% vs. training without class balancing.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474720"/>
            <a:ext cx="256032" cy="256032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" y="341985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Days/Week (IKS) ranks 5th of 24 — quantitative validation of the IKS hypothesis.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" y="3895344"/>
            <a:ext cx="256032" cy="256032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" y="3840480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Wellness Score shows 11.7-point gradient between Low and High stress students.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4315968"/>
            <a:ext cx="256032" cy="25603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6656" y="4261104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 recall = 85% — the model correctly flags 85 of 100 genuinely high-stress students.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2212848"/>
            <a:ext cx="4133088" cy="2450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9204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92040" y="2670048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demonstrates that Indian Knowledge Systems and modern data science are genuinely complementary frameworks for student well-being.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treating Yoga and Pranayama as primary predictors — not decorative features — the model makes traditional wisdom quantitatively legible. The IKS Wellness Score (0–100) moves beyond lookup-table prescriptions into a scored, intensity-proportional system personalised to each student's stress profile.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 analysis provides the critical empirical result: IKS variables appear in the top 7 of 24 features — a finding derived from data, not assumption.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MindBalance v2  ·  Accuracy 76.8%  ·  AUC 0.889  ·  Cohen's κ 0.653  ·  16 Output Charts  ·  BSc Data Science 2025–26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MindBalance v2 — IKS Stress Prediction</dc:title>
  <dc:subject>PptxGenJS Presentation</dc:subject>
  <dc:creator>PptxGenJS</dc:creator>
  <cp:lastModifiedBy>PptxGenJS</cp:lastModifiedBy>
  <cp:revision>1</cp:revision>
  <dcterms:created xsi:type="dcterms:W3CDTF">2026-04-06T04:06:42Z</dcterms:created>
  <dcterms:modified xsi:type="dcterms:W3CDTF">2026-04-06T04:06:42Z</dcterms:modified>
</cp:coreProperties>
</file>